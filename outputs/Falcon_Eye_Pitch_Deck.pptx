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2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22C"/>
                </a:solidFill>
                <a:latin typeface="Arial"/>
              </a:rPr>
              <a:t>Detection rate by sensing mode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LiDAR only</c:v>
                </c:pt>
              </c:strCache>
            </c:strRef>
          </c:tx>
          <c:spPr>
            <a:solidFill>
              <a:srgbClr val="3C4A5E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Clear</c:v>
                  </c:pt>
                  <c:pt idx="1">
                    <c:v>Light fog</c:v>
                  </c:pt>
                  <c:pt idx="2">
                    <c:v>Moderate fog</c:v>
                  </c:pt>
                  <c:pt idx="3">
                    <c:v>Dense fog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72.6</c:v>
                </c:pt>
                <c:pt idx="2">
                  <c:v>13.8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Radar only</c:v>
                </c:pt>
              </c:strCache>
            </c:strRef>
          </c:tx>
          <c:spPr>
            <a:solidFill>
              <a:srgbClr val="9BB6D6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Clear</c:v>
                  </c:pt>
                  <c:pt idx="1">
                    <c:v>Light fog</c:v>
                  </c:pt>
                  <c:pt idx="2">
                    <c:v>Moderate fog</c:v>
                  </c:pt>
                  <c:pt idx="3">
                    <c:v>Dense fog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LiDAR + Radar fusion</c:v>
                </c:pt>
              </c:strCache>
            </c:strRef>
          </c:tx>
          <c:spPr>
            <a:solidFill>
              <a:srgbClr val="F5A623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Clear</c:v>
                  </c:pt>
                  <c:pt idx="1">
                    <c:v>Light fog</c:v>
                  </c:pt>
                  <c:pt idx="2">
                    <c:v>Moderate fog</c:v>
                  </c:pt>
                  <c:pt idx="3">
                    <c:v>Dense fog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1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37160"/>
            <a:ext cx="6583680" cy="6583680"/>
          </a:xfrm>
          <a:prstGeom prst="ellipse">
            <a:avLst/>
          </a:prstGeom>
          <a:ln w="15875">
            <a:solidFill>
              <a:srgbClr val="1C3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960120"/>
            <a:ext cx="4937760" cy="4937760"/>
          </a:xfrm>
          <a:prstGeom prst="ellipse">
            <a:avLst/>
          </a:prstGeom>
          <a:ln w="15875">
            <a:solidFill>
              <a:srgbClr val="1C3A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783080"/>
            <a:ext cx="3291840" cy="3291840"/>
          </a:xfrm>
          <a:prstGeom prst="ellipse">
            <a:avLst/>
          </a:prstGeom>
          <a:ln w="15875">
            <a:solidFill>
              <a:srgbClr val="1C3A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2606040"/>
            <a:ext cx="1645920" cy="1645920"/>
          </a:xfrm>
          <a:prstGeom prst="ellipse">
            <a:avLst/>
          </a:prstGeom>
          <a:ln w="15875">
            <a:solidFill>
              <a:srgbClr val="1C3A63"/>
            </a:solidFill>
            <a:prstDash val="solid"/>
          </a:ln>
        </p:spPr>
      </p:sp>
      <p:pic>
        <p:nvPicPr>
          <p:cNvPr id="6" name="Image 0" descr="assets/icon_radar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301752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317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FALCON EYE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58368" y="32461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forward-looking collision awareness for the next 100 years of flight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58368" y="3977640"/>
            <a:ext cx="274320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Falcon Eye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HTCJ Aviation Futures Innovation Challenge — Aviation Safety Track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demonstration · sensor-fusion simulation prototype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Situational awareness fails exactly when it's needed most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74520"/>
            <a:ext cx="685800" cy="6858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assets/icon_visibility_off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3911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43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 degrades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Fog, haze, and low light quietly erode the range and reliability of optical/visual situational awareness — without any explicit failure signal.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80560" y="155448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00600" y="1874520"/>
            <a:ext cx="685800" cy="6858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0" name="Image 1" descr="assets/icon_warn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203911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2743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Instruments and single sensors fail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754880" y="324612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systems and any single sensing modality can drop out, drift, or return false data. Aircraft need an independent layer, not a single point of failure.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412480" y="155448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732520" y="1874520"/>
            <a:ext cx="685800" cy="6858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5" name="Image 2" descr="assets/icon_spee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2" y="203911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86800" y="2743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dedicated forward redundancy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686800" y="324612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focus on separation assurance and terrain — there's no purpose-built, always-on forward collision layer that keeps working when conditions degrade.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50749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0B1F3A"/>
          </a:solidFill>
          <a:ln/>
        </p:spPr>
      </p:sp>
      <p:pic>
        <p:nvPicPr>
          <p:cNvPr id="19" name="Image 3" descr="assets/icon_gps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34924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00200" y="5193792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tailwind: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FAA's Part 108 beyond-visual-line-of-sight (BVLOS) framework explicitly requires detect-and-avoid capability for routine drone and advanced-air-mobility operations — this category of system is becoming a compliance requirement, not just a nice-to-have.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Falcon Eye: an always-on forward sensing layer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+ radar fusion, tracked and triaged in real time, escalating only when a target is genuinely on a collision course.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2336" y="228600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/>
        </p:spPr>
      </p:sp>
      <p:pic>
        <p:nvPicPr>
          <p:cNvPr id="5" name="Image 0" descr="assets/icon_senso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254203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2336" y="3154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75488" y="3520440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+ radar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&amp; return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276856" y="28803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C4A5E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779776" y="228600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/>
        </p:spPr>
      </p:sp>
      <p:pic>
        <p:nvPicPr>
          <p:cNvPr id="10" name="Image 1" descr="assets/icon_rad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716" y="2542032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79776" y="3154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2852928" y="3520440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Fog-aware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model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654296" y="28803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C4A5E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157216" y="228600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/>
        </p:spPr>
      </p:sp>
      <p:pic>
        <p:nvPicPr>
          <p:cNvPr id="15" name="Image 2" descr="assets/icon_tra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156" y="2542032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57216" y="3154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230368" y="3520440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Multi-target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estimation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7031736" y="28803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C4A5E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7534656" y="228600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F5A623"/>
          </a:solidFill>
          <a:ln/>
        </p:spPr>
      </p:sp>
      <p:pic>
        <p:nvPicPr>
          <p:cNvPr id="20" name="Image 3" descr="assets/icon_bol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7596" y="2542032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34656" y="3154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607808" y="3520440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Slack-priority sort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reflex fast-path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9409176" y="28803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C4A5E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9912096" y="228600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C0392B"/>
          </a:solidFill>
          <a:ln/>
        </p:spPr>
      </p:sp>
      <p:pic>
        <p:nvPicPr>
          <p:cNvPr id="25" name="Image 4" descr="assets/icon_warnin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5036" y="2542032"/>
            <a:ext cx="548640" cy="5486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912096" y="3154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9985248" y="3520440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Risk-graded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output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548640" y="4709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Research-simulation prototype </a:t>
            </a:r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Python/NumPy/SciPy pipeline validated end-to-end from raw sensor return through warning output, before any migration to flight hardware.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548640" y="5257800"/>
            <a:ext cx="3611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731520" y="5349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Fog-honest sensing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731520" y="562356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probability actually degrades with atmospheric attenuation — no assumption LiDAR 'sees through' dense fog.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4457700" y="5257800"/>
            <a:ext cx="3611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640580" y="5349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4640580" y="562356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Radar's near-fog-invariant propagation backstops LiDAR exactly where optical sensing fails.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8366760" y="5257800"/>
            <a:ext cx="3611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8549640" y="5349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triage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8549640" y="562356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reflex fast-path surfaces a genuinely critical target before lower-priority tracks are even scored.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LiDAR alone fails in fog. Fusion doesn't.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 on genuinely dangerous encounters, 200 randomized Monte Carlo trials per condition (2,400 trials total)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9494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73736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09560" y="1847088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418320" y="187452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LiDAR-only detection in dense fog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26680" y="315468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3264408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9418320" y="329184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detection across every fog level tested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26680" y="457200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09560" y="4681728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2,400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9418320" y="470916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Monte Carlo trials run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triage: act on the real threat first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slack-priority sort plus a reflex fast-path (adapted from real-time scheduling research) means a genuinely critical target is flagged before lower-priority tracks are even scored.</a:t>
            </a:r>
            <a:endParaRPr lang="en-US" sz="1300" dirty="0"/>
          </a:p>
        </p:txBody>
      </p:sp>
      <p:pic>
        <p:nvPicPr>
          <p:cNvPr id="4" name="Image 0" descr="assets/multi_target_tri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7223760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0" y="17830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83880" y="18928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fast-path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83880" y="2221992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time-critical target is identified in one pass — before the full multi-target list is sorted or scored.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001000" y="33832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83880" y="34930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Slack-priority sort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83880" y="3822192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tracked target is ranked by urgency (time-to-collision minus processing budget), so attention always goes to the tightest deadline first.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001000" y="49834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50932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3 simultaneous tracks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83880" y="5422392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head-on target correctly escalates to critical; slow and off-corridor traffic correctly stay clear — no false alarms, no missed threat.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like it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on this deck traces to a specific simulation run, not an assumption.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2336" y="21031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081527"/>
          </a:solidFill>
          <a:ln w="12700">
            <a:solidFill>
              <a:srgbClr val="1C3A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23317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2,400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85216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trials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sensor modes × 4 fog levels × 200 trials)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28416" y="21031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081527"/>
          </a:solidFill>
          <a:ln w="12700">
            <a:solidFill>
              <a:srgbClr val="1C3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28416" y="23317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11296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independently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and tested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54496" y="21031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081527"/>
          </a:solidFill>
          <a:ln w="12700">
            <a:solidFill>
              <a:srgbClr val="1C3A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496" y="23317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37376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densities modeled with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Beer-Lambert atmospheric extinction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80576" y="21031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081527"/>
          </a:solidFill>
          <a:ln w="12700">
            <a:solidFill>
              <a:srgbClr val="1C3A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0576" y="23317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363456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targets tracked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9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triaged in real time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under simulated hardware dropout, biased range, false-detection bursts, added latency, data-link loss, and interference, </a:t>
            </a:r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7 failure scenarios still produced a valid warning</a:t>
            </a:r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evidence of graceful degradation rather than silent failure.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compliance-driven market, arriving now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03520" cy="2331720"/>
          </a:xfrm>
          <a:prstGeom prst="roundRect">
            <a:avLst>
              <a:gd name="adj" fmla="val 3137"/>
            </a:avLst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$14–18B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9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Advanced Air Mobility market size, 2026 — industry estimates place ~20%+ CAGR growth through the early 2030s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0" y="123444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pic>
        <p:nvPicPr>
          <p:cNvPr id="7" name="Image 0" descr="assets/icon_gp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4630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0" y="14904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108 (BVLOS)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09360" y="205740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FAA's beyond-visual-line-of-sight framework explicitly requires detect-and-avoid capability for routine commercial drone and AAM operations — turning this category from optional to load-bearing for anyone flying BVLOS.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needs an independent forward-collision layer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425196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448056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3" name="Image 1" descr="assets/icon_fligh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6177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" y="5120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eVTOL / UAM operators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31520" y="5623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low-altitude corridors with limited onboard redundancy budget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410712" y="425196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39312" y="448056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8" name="Image 2" descr="assets/icon_senso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46177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593592" y="5120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BVLOS cargo drones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3593592" y="5623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regulatory requirement under Part 108 detect-and-avoid rules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272784" y="425196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01384" y="448056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3" name="Image 3" descr="assets/icon_rad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461772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455664" y="5120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retrofit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455664" y="5623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redundancy layer for aircraft without modern TCAS/EGPWS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9134856" y="425196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9363456" y="448056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8" name="Image 4" descr="assets/icon_tra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0616" y="461772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317736" y="5120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ground &amp; approach ops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9317736" y="5623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Low-visibility taxi, apron, and approach-corridor awareness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validated simulation to flight-ready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0" y="13990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Simulation-Validated Prototype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18013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sense-to-warning pipeline, 2,400-trial Monte Carlo validation, fog-honest sensor modeling, multi-target triage — this submission.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0" y="155448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74420" y="2468880"/>
            <a:ext cx="0" cy="320040"/>
          </a:xfrm>
          <a:prstGeom prst="line">
            <a:avLst/>
          </a:prstGeom>
          <a:noFill/>
          <a:ln w="25400">
            <a:solidFill>
              <a:srgbClr val="C7D0D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48640" y="2788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3C4A5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88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828800" y="27706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Hardware-in-the-Loop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31729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sensor and fog models against real LiDAR/radar datasheets and bench hardware; upgrade fusion to track-confirmation logic.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292608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C4A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2926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6 months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74420" y="3840480"/>
            <a:ext cx="0" cy="320040"/>
          </a:xfrm>
          <a:prstGeom prst="line">
            <a:avLst/>
          </a:prstGeom>
          <a:noFill/>
          <a:ln w="25400">
            <a:solidFill>
              <a:srgbClr val="C7D0DB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48640" y="41605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605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828800" y="41422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Test Partnership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8800" y="45445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a GA, UAM, or drone operator for real-world flight data collection and closed-loop validation.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0" y="429768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4297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months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74420" y="5212080"/>
            <a:ext cx="0" cy="320040"/>
          </a:xfrm>
          <a:prstGeom prst="line">
            <a:avLst/>
          </a:prstGeom>
          <a:noFill/>
          <a:ln w="25400">
            <a:solidFill>
              <a:srgbClr val="C7D0DB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48640" y="55321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5321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828800" y="55138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&amp; OEM Integration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828800" y="5916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a certification pathway and integrate with avionics/UAM OEMs as a licensable safety layer.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29600" y="566928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5669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months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Falcon Eye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this slide with your team's names, backgrounds, and roles.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081527"/>
          </a:solidFill>
          <a:ln w="12700">
            <a:solidFill>
              <a:srgbClr val="1C3A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51660" y="2377440"/>
            <a:ext cx="1005840" cy="1005840"/>
          </a:xfrm>
          <a:prstGeom prst="ellipse">
            <a:avLst/>
          </a:prstGeom>
          <a:solidFill>
            <a:srgbClr val="142845"/>
          </a:solidFill>
          <a:ln w="19050">
            <a:solidFill>
              <a:srgbClr val="F5A623"/>
            </a:solidFill>
            <a:prstDash val="solid"/>
          </a:ln>
        </p:spPr>
      </p:sp>
      <p:pic>
        <p:nvPicPr>
          <p:cNvPr id="6" name="Image 0" descr="assets/icon_scienc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8548" y="262432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6118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9776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&amp; Algorithms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44805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9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modeling, tracking, and collision-risk logic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5770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081527"/>
          </a:solidFill>
          <a:ln w="12700">
            <a:solidFill>
              <a:srgbClr val="1C3A6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0720" y="2377440"/>
            <a:ext cx="1005840" cy="1005840"/>
          </a:xfrm>
          <a:prstGeom prst="ellipse">
            <a:avLst/>
          </a:prstGeom>
          <a:solidFill>
            <a:srgbClr val="142845"/>
          </a:solidFill>
          <a:ln w="19050">
            <a:solidFill>
              <a:srgbClr val="F5A623"/>
            </a:solidFill>
            <a:prstDash val="solid"/>
          </a:ln>
        </p:spPr>
      </p:sp>
      <p:pic>
        <p:nvPicPr>
          <p:cNvPr id="12" name="Image 1" descr="assets/icon_radar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624328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57700" y="36118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457700" y="39776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&amp; Aerospace Domain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32020" y="44805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9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physics, fog/atmospheric modeling, aviation context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36676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081527"/>
          </a:solidFill>
          <a:ln w="12700">
            <a:solidFill>
              <a:srgbClr val="1C3A6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669780" y="2377440"/>
            <a:ext cx="1005840" cy="1005840"/>
          </a:xfrm>
          <a:prstGeom prst="ellipse">
            <a:avLst/>
          </a:prstGeom>
          <a:solidFill>
            <a:srgbClr val="142845"/>
          </a:solidFill>
          <a:ln w="19050">
            <a:solidFill>
              <a:srgbClr val="F5A623"/>
            </a:solidFill>
            <a:prstDash val="solid"/>
          </a:ln>
        </p:spPr>
      </p:sp>
      <p:pic>
        <p:nvPicPr>
          <p:cNvPr id="18" name="Image 2" descr="assets/icon_handshake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6668" y="2624328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36118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366760" y="39776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Partnerships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641080" y="44805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9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Go-to-market, regulatory strategy, industry connections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37160"/>
            <a:ext cx="6583680" cy="6583680"/>
          </a:xfrm>
          <a:prstGeom prst="ellipse">
            <a:avLst/>
          </a:prstGeom>
          <a:ln w="15875">
            <a:solidFill>
              <a:srgbClr val="1C3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960120"/>
            <a:ext cx="4937760" cy="4937760"/>
          </a:xfrm>
          <a:prstGeom prst="ellipse">
            <a:avLst/>
          </a:prstGeom>
          <a:ln w="15875">
            <a:solidFill>
              <a:srgbClr val="1C3A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783080"/>
            <a:ext cx="3291840" cy="3291840"/>
          </a:xfrm>
          <a:prstGeom prst="ellipse">
            <a:avLst/>
          </a:prstGeom>
          <a:ln w="15875">
            <a:solidFill>
              <a:srgbClr val="1C3A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2606040"/>
            <a:ext cx="1645920" cy="1645920"/>
          </a:xfrm>
          <a:prstGeom prst="ellipse">
            <a:avLst/>
          </a:prstGeom>
          <a:ln w="15875">
            <a:solidFill>
              <a:srgbClr val="1C3A63"/>
            </a:solidFill>
            <a:prstDash val="solid"/>
          </a:ln>
        </p:spPr>
      </p:sp>
      <p:pic>
        <p:nvPicPr>
          <p:cNvPr id="6" name="Image 0" descr="assets/icon_radar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301752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96596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us in building the next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of aviation safety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58368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looking for: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" y="418795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404164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from aerospace safety &amp; avionics experts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58368" y="469087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5445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flight-test data or a pilot partner for hardware-in-the-loop validation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8368" y="519379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504748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UAM / BVLOS operators and OEMs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58368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Falcon Eye  ·  [contact email]  ·  [GitHub repository link]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2026-08-25T11:23:11Z</dcterms:created>
  <dcterms:modified xsi:type="dcterms:W3CDTF">2026-08-25T11:23:11Z</dcterms:modified>
</cp:coreProperties>
</file>